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93a4319d954db0" /><Relationship Type="http://schemas.openxmlformats.org/officeDocument/2006/relationships/extended-properties" Target="/docProps/app.xml" Id="Rbeb4a51a033f4017" /><Relationship Type="http://schemas.openxmlformats.org/officeDocument/2006/relationships/officeDocument" Target="/ppt/presentation.xml" Id="R59434022f91649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feb714029d48a8"/>
  </p:sldMasterIdLst>
  <p:notesMasterIdLst>
    <p:notesMasterId xmlns:r="http://schemas.openxmlformats.org/officeDocument/2006/relationships" r:id="Re9124ef8eedd4050"/>
  </p:notesMasterIdLst>
  <p:sldIdLst>
    <p:sldId xmlns:r="http://schemas.openxmlformats.org/officeDocument/2006/relationships" id="256" r:id="Rbf3e6768de6047b2"/>
  </p:sldIdLst>
  <p:sldSz cx="159258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30185bccfe446e" /><Relationship Type="http://schemas.openxmlformats.org/officeDocument/2006/relationships/slideMaster" Target="/ppt/slideMasters/slideMaster1.xml" Id="R82feb714029d48a8" /><Relationship Type="http://schemas.openxmlformats.org/officeDocument/2006/relationships/notesMaster" Target="/ppt/notesMasters/notesMaster1.xml" Id="Re9124ef8eedd4050" /><Relationship Type="http://schemas.openxmlformats.org/officeDocument/2006/relationships/presProps" Target="/ppt/presProps.xml" Id="Ra00fcd9f8f6f4c84" /><Relationship Type="http://schemas.openxmlformats.org/officeDocument/2006/relationships/tableStyles" Target="/ppt/tableStyles.xml" Id="R151822cdff2a439f" /><Relationship Type="http://schemas.openxmlformats.org/officeDocument/2006/relationships/slide" Target="/ppt/slides/slide1.xml" Id="Rbf3e6768de6047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e67b4e274d49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ac5106e954c56" /><Relationship Type="http://schemas.openxmlformats.org/officeDocument/2006/relationships/notesMaster" Target="/ppt/notesMasters/notesMaster1.xml" Id="Rd038f2ee98ed47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ab074317c45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94583bc2494f83" /><Relationship Type="http://schemas.openxmlformats.org/officeDocument/2006/relationships/slideLayout" Target="/ppt/slideLayouts/slideLayout1.xml" Id="R378ced69b54146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8ced69b54146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0fda9b81944f4" /><Relationship Type="http://schemas.openxmlformats.org/officeDocument/2006/relationships/notesSlide" Target="/ppt/notesSlides/notesSlide1.xml" Id="Rd661620860c24d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header-accent-orange">
            <a:extLst xmlns:a="http://schemas.openxmlformats.org/drawingml/2006/main">
              <a:ext uri="{FF2B5EF4-FFF2-40B4-BE49-F238E27FC236}">
                <a16:creationId xmlns:a16="http://schemas.microsoft.com/office/drawing/2014/main" id="{124C8ED4-B288-4583-B34D-4F88F034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4C2E"/>
          </a:solidFill>
          <a:ln xmlns:a="http://schemas.openxmlformats.org/drawingml/2006/main" w="0">
            <a:solidFill>
              <a:srgbClr val="F24C2E"/>
            </a:solidFill>
            <a:prstDash val="solid"/>
          </a:ln>
        </p:spPr>
      </p:sp>
      <p:sp>
        <p:nvSpPr>
          <p:cNvPr id="2" name="header-accent-black">
            <a:extLst xmlns:a="http://schemas.openxmlformats.org/drawingml/2006/main">
              <a:ext uri="{FF2B5EF4-FFF2-40B4-BE49-F238E27FC236}">
                <a16:creationId xmlns:a16="http://schemas.microsoft.com/office/drawing/2014/main" id="{0C9ABE4A-1C88-4FA6-B80A-A65F68D8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62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B"/>
          </a:solidFill>
          <a:ln xmlns:a="http://schemas.openxmlformats.org/drawingml/2006/main" w="0">
            <a:solidFill>
              <a:srgbClr val="191A1B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7150FCC-DC97-47E3-B278-9B40CD44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86" b="0">
                <a:solidFill>
                  <a:srgbClr val="F24C2E"/>
                </a:solidFill>
                <a:latin typeface="Arial"/>
                <a:ea typeface="Arial"/>
                <a:cs typeface="Arial"/>
              </a:defRPr>
            </a:pPr>
            <a:r>
              <a:rPr sz="1586" b="0">
                <a:solidFill>
                  <a:srgbClr val="F24C2E"/>
                </a:solidFill>
                <a:latin typeface="Arial"/>
                <a:ea typeface="Arial"/>
                <a:cs typeface="Arial"/>
              </a:rPr>
              <a:t>R E A L T I M E   C O N T R O L   &amp;   A U D I T</a:t>
            </a:r>
          </a:p>
        </p:txBody>
      </p:sp>
      <p:sp>
        <p:nvSpPr>
          <p:cNvPr id="4" name="main-title">
            <a:extLst xmlns:a="http://schemas.openxmlformats.org/drawingml/2006/main">
              <a:ext uri="{FF2B5EF4-FFF2-40B4-BE49-F238E27FC236}">
                <a16:creationId xmlns:a16="http://schemas.microsoft.com/office/drawing/2014/main" id="{721F169F-B399-4DC5-B64E-13A68683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1228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83" b="1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3983" b="1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后端统一控制 Key， 前端只保留 WebRTC 连接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F3CD2E6-E65C-46C0-8332-2F015C88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57325"/>
            <a:ext cx="1152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4" b="0">
                <a:solidFill>
                  <a:srgbClr val="444444"/>
                </a:solidFill>
                <a:latin typeface="PingFang SC"/>
                <a:ea typeface="PingFang SC"/>
                <a:cs typeface="PingFang SC"/>
              </a:defRPr>
            </a:pPr>
            <a:r>
              <a:rPr sz="1654" b="0">
                <a:solidFill>
                  <a:srgbClr val="444444"/>
                </a:solidFill>
                <a:latin typeface="PingFang SC"/>
                <a:ea typeface="PingFang SC"/>
                <a:cs typeface="PingFang SC"/>
              </a:rPr>
              <a:t>一次 Realtime 会话由业务后端完成身份校验、 额度控制、 临时 Key 申请、 SDP 鉴权与官方用量对账。</a:t>
            </a:r>
          </a:p>
        </p:txBody>
      </p:sp>
      <p:sp>
        <p:nvSpPr>
          <p:cNvPr id="6" name="browser-backend-line">
            <a:extLst xmlns:a="http://schemas.openxmlformats.org/drawingml/2006/main">
              <a:ext uri="{FF2B5EF4-FFF2-40B4-BE49-F238E27FC236}">
                <a16:creationId xmlns:a16="http://schemas.microsoft.com/office/drawing/2014/main" id="{81AE6D42-372B-44CE-B699-1AC9D31E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09975"/>
            <a:ext cx="2238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91A1B"/>
            </a:solidFill>
            <a:prstDash val="solid"/>
          </a:ln>
        </p:spPr>
      </p:sp>
      <p:sp>
        <p:nvSpPr>
          <p:cNvPr id="7" name="browser-backend-left">
            <a:extLst xmlns:a="http://schemas.openxmlformats.org/drawingml/2006/main">
              <a:ext uri="{FF2B5EF4-FFF2-40B4-BE49-F238E27FC236}">
                <a16:creationId xmlns:a16="http://schemas.microsoft.com/office/drawing/2014/main" id="{863A749B-D78D-4D01-B063-DE5F4395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56635"/>
            <a:ext cx="76200" cy="106680"/>
          </a:xfrm>
          <a:custGeom xmlns:a="http://schemas.openxmlformats.org/drawingml/2006/main">
            <a:pathLst>
              <a:path w="76200" h="106680">
                <a:moveTo>
                  <a:pt x="76200" y="0"/>
                </a:moveTo>
                <a:lnTo>
                  <a:pt x="0" y="53340"/>
                </a:lnTo>
                <a:lnTo>
                  <a:pt x="7620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91A1B"/>
            </a:solidFill>
            <a:prstDash val="solid"/>
          </a:ln>
        </p:spPr>
      </p:sp>
      <p:sp>
        <p:nvSpPr>
          <p:cNvPr id="8" name="browser-backend-right">
            <a:extLst xmlns:a="http://schemas.openxmlformats.org/drawingml/2006/main">
              <a:ext uri="{FF2B5EF4-FFF2-40B4-BE49-F238E27FC236}">
                <a16:creationId xmlns:a16="http://schemas.microsoft.com/office/drawing/2014/main" id="{6122604D-C8BA-4F89-B200-1465BD6D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56635"/>
            <a:ext cx="76200" cy="106680"/>
          </a:xfrm>
          <a:custGeom xmlns:a="http://schemas.openxmlformats.org/drawingml/2006/main">
            <a:pathLst>
              <a:path w="76200" h="106680">
                <a:moveTo>
                  <a:pt x="0" y="0"/>
                </a:moveTo>
                <a:lnTo>
                  <a:pt x="76200" y="53340"/>
                </a:lnTo>
                <a:lnTo>
                  <a:pt x="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91A1B"/>
            </a:solidFill>
            <a:prstDash val="solid"/>
          </a:ln>
        </p:spPr>
      </p:sp>
      <p:sp>
        <p:nvSpPr>
          <p:cNvPr id="9" name="browser-backend-label">
            <a:extLst xmlns:a="http://schemas.openxmlformats.org/drawingml/2006/main">
              <a:ext uri="{FF2B5EF4-FFF2-40B4-BE49-F238E27FC236}">
                <a16:creationId xmlns:a16="http://schemas.microsoft.com/office/drawing/2014/main" id="{71954820-71AD-46FA-BE4B-EE537426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480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登录态 / SDP</a:t>
            </a:r>
          </a:p>
        </p:txBody>
      </p:sp>
      <p:sp>
        <p:nvSpPr>
          <p:cNvPr id="10" name="backend-token-line">
            <a:extLst xmlns:a="http://schemas.openxmlformats.org/drawingml/2006/main">
              <a:ext uri="{FF2B5EF4-FFF2-40B4-BE49-F238E27FC236}">
                <a16:creationId xmlns:a16="http://schemas.microsoft.com/office/drawing/2014/main" id="{5A155BBE-CA38-44EE-BF1D-D679E42E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562225" cy="504825"/>
          </a:xfrm>
          <a:custGeom xmlns:a="http://schemas.openxmlformats.org/drawingml/2006/main">
            <a:pathLst>
              <a:path w="2562225" h="504825">
                <a:moveTo>
                  <a:pt x="0" y="504825"/>
                </a:moveTo>
                <a:lnTo>
                  <a:pt x="2562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24C2E"/>
            </a:solidFill>
            <a:prstDash val="solid"/>
          </a:ln>
        </p:spPr>
      </p:sp>
      <p:sp>
        <p:nvSpPr>
          <p:cNvPr id="11" name="backend-token-head">
            <a:extLst xmlns:a="http://schemas.openxmlformats.org/drawingml/2006/main">
              <a:ext uri="{FF2B5EF4-FFF2-40B4-BE49-F238E27FC236}">
                <a16:creationId xmlns:a16="http://schemas.microsoft.com/office/drawing/2014/main" id="{30E22826-8111-4357-92A2-24924B53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213610"/>
            <a:ext cx="76200" cy="106680"/>
          </a:xfrm>
          <a:custGeom xmlns:a="http://schemas.openxmlformats.org/drawingml/2006/main">
            <a:pathLst>
              <a:path w="76200" h="106680">
                <a:moveTo>
                  <a:pt x="0" y="0"/>
                </a:moveTo>
                <a:lnTo>
                  <a:pt x="76200" y="53340"/>
                </a:lnTo>
                <a:lnTo>
                  <a:pt x="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24C2E"/>
            </a:solidFill>
            <a:prstDash val="solid"/>
          </a:ln>
        </p:spPr>
      </p:sp>
      <p:sp>
        <p:nvSpPr>
          <p:cNvPr id="12" name="backend-token-label">
            <a:extLst xmlns:a="http://schemas.openxmlformats.org/drawingml/2006/main">
              <a:ext uri="{FF2B5EF4-FFF2-40B4-BE49-F238E27FC236}">
                <a16:creationId xmlns:a16="http://schemas.microsoft.com/office/drawing/2014/main" id="{80FBC618-54BC-4FF5-BA36-E0DA3403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288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主 Key 申请</a:t>
            </a:r>
          </a:p>
        </p:txBody>
      </p:sp>
      <p:sp>
        <p:nvSpPr>
          <p:cNvPr id="13" name="token-realtime-line">
            <a:extLst xmlns:a="http://schemas.openxmlformats.org/drawingml/2006/main">
              <a:ext uri="{FF2B5EF4-FFF2-40B4-BE49-F238E27FC236}">
                <a16:creationId xmlns:a16="http://schemas.microsoft.com/office/drawing/2014/main" id="{B79A1159-AF9B-4864-BA29-FDE9FF01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2819400"/>
            <a:ext cx="9525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4C2E"/>
            </a:solidFill>
            <a:prstDash val="solid"/>
          </a:ln>
        </p:spPr>
      </p:sp>
      <p:sp>
        <p:nvSpPr>
          <p:cNvPr id="14" name="token-realtime-head">
            <a:extLst xmlns:a="http://schemas.openxmlformats.org/drawingml/2006/main">
              <a:ext uri="{FF2B5EF4-FFF2-40B4-BE49-F238E27FC236}">
                <a16:creationId xmlns:a16="http://schemas.microsoft.com/office/drawing/2014/main" id="{9D058DA1-CDD8-4D89-BA05-8C8AF1EF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3960" y="3400425"/>
            <a:ext cx="106680" cy="76200"/>
          </a:xfrm>
          <a:custGeom xmlns:a="http://schemas.openxmlformats.org/drawingml/2006/main">
            <a:pathLst>
              <a:path w="106680" h="76200">
                <a:moveTo>
                  <a:pt x="0" y="0"/>
                </a:moveTo>
                <a:lnTo>
                  <a:pt x="53340" y="76200"/>
                </a:lnTo>
                <a:lnTo>
                  <a:pt x="1066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24C2E"/>
            </a:solidFill>
            <a:prstDash val="solid"/>
          </a:ln>
        </p:spPr>
      </p:sp>
      <p:sp>
        <p:nvSpPr>
          <p:cNvPr id="15" name="token-realtime-label">
            <a:extLst xmlns:a="http://schemas.openxmlformats.org/drawingml/2006/main">
              <a:ext uri="{FF2B5EF4-FFF2-40B4-BE49-F238E27FC236}">
                <a16:creationId xmlns:a16="http://schemas.microsoft.com/office/drawing/2014/main" id="{672BD667-5E06-4197-988D-539E658E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92417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83" b="0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283" b="0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短时 Key</a:t>
            </a:r>
          </a:p>
        </p:txBody>
      </p:sp>
      <p:sp>
        <p:nvSpPr>
          <p:cNvPr id="16" name="backend-realtime-request-line">
            <a:extLst xmlns:a="http://schemas.openxmlformats.org/drawingml/2006/main">
              <a:ext uri="{FF2B5EF4-FFF2-40B4-BE49-F238E27FC236}">
                <a16:creationId xmlns:a16="http://schemas.microsoft.com/office/drawing/2014/main" id="{F9C31433-7F9E-4336-B95B-5C4DB436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48075"/>
            <a:ext cx="254317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4C2E"/>
            </a:solidFill>
            <a:prstDash val="solid"/>
          </a:ln>
        </p:spPr>
      </p:sp>
      <p:sp>
        <p:nvSpPr>
          <p:cNvPr id="17" name="backend-realtime-request-head">
            <a:extLst xmlns:a="http://schemas.openxmlformats.org/drawingml/2006/main">
              <a:ext uri="{FF2B5EF4-FFF2-40B4-BE49-F238E27FC236}">
                <a16:creationId xmlns:a16="http://schemas.microsoft.com/office/drawing/2014/main" id="{FA9C3F21-0545-4819-AF0A-C89FC8C9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80485"/>
            <a:ext cx="76200" cy="106680"/>
          </a:xfrm>
          <a:custGeom xmlns:a="http://schemas.openxmlformats.org/drawingml/2006/main">
            <a:pathLst>
              <a:path w="76200" h="106680">
                <a:moveTo>
                  <a:pt x="0" y="0"/>
                </a:moveTo>
                <a:lnTo>
                  <a:pt x="76200" y="53340"/>
                </a:lnTo>
                <a:lnTo>
                  <a:pt x="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24C2E"/>
            </a:solidFill>
            <a:prstDash val="solid"/>
          </a:ln>
        </p:spPr>
      </p:sp>
      <p:sp>
        <p:nvSpPr>
          <p:cNvPr id="18" name="realtime-backend-answer-line">
            <a:extLst xmlns:a="http://schemas.openxmlformats.org/drawingml/2006/main">
              <a:ext uri="{FF2B5EF4-FFF2-40B4-BE49-F238E27FC236}">
                <a16:creationId xmlns:a16="http://schemas.microsoft.com/office/drawing/2014/main" id="{8C3E004C-A07A-41B9-A219-BCA20AB0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2533650" cy="285750"/>
          </a:xfrm>
          <a:custGeom xmlns:a="http://schemas.openxmlformats.org/drawingml/2006/main">
            <a:pathLst>
              <a:path w="2533650" h="285750">
                <a:moveTo>
                  <a:pt x="2533650" y="285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191A1B"/>
            </a:solidFill>
            <a:prstDash val="solid"/>
          </a:ln>
        </p:spPr>
      </p:sp>
      <p:sp>
        <p:nvSpPr>
          <p:cNvPr id="19" name="realtime-backend-answer-head">
            <a:extLst xmlns:a="http://schemas.openxmlformats.org/drawingml/2006/main">
              <a:ext uri="{FF2B5EF4-FFF2-40B4-BE49-F238E27FC236}">
                <a16:creationId xmlns:a16="http://schemas.microsoft.com/office/drawing/2014/main" id="{ACE4F1FF-E460-4C0C-91F5-E219A445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8560"/>
            <a:ext cx="76200" cy="106680"/>
          </a:xfrm>
          <a:custGeom xmlns:a="http://schemas.openxmlformats.org/drawingml/2006/main">
            <a:pathLst>
              <a:path w="76200" h="106680">
                <a:moveTo>
                  <a:pt x="76200" y="0"/>
                </a:moveTo>
                <a:lnTo>
                  <a:pt x="0" y="53340"/>
                </a:lnTo>
                <a:lnTo>
                  <a:pt x="7620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191A1B"/>
            </a:solidFill>
            <a:prstDash val="solid"/>
          </a:ln>
        </p:spPr>
      </p:sp>
      <p:sp>
        <p:nvSpPr>
          <p:cNvPr id="20" name="sdp-label">
            <a:extLst xmlns:a="http://schemas.openxmlformats.org/drawingml/2006/main">
              <a:ext uri="{FF2B5EF4-FFF2-40B4-BE49-F238E27FC236}">
                <a16:creationId xmlns:a16="http://schemas.microsoft.com/office/drawing/2014/main" id="{C42306F9-730E-4927-A731-F9FF53DE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19475"/>
            <a:ext cx="1952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SDP 鉴权 / Answer</a:t>
            </a:r>
          </a:p>
        </p:txBody>
      </p:sp>
      <p:sp>
        <p:nvSpPr>
          <p:cNvPr id="21" name="backend-usage-line">
            <a:extLst xmlns:a="http://schemas.openxmlformats.org/drawingml/2006/main">
              <a:ext uri="{FF2B5EF4-FFF2-40B4-BE49-F238E27FC236}">
                <a16:creationId xmlns:a16="http://schemas.microsoft.com/office/drawing/2014/main" id="{7C048A8E-D55F-44AB-8B9A-63AEEE98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48175"/>
            <a:ext cx="952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91A1B"/>
            </a:solidFill>
            <a:prstDash val="solid"/>
          </a:ln>
        </p:spPr>
      </p:sp>
      <p:sp>
        <p:nvSpPr>
          <p:cNvPr id="22" name="backend-usage-head">
            <a:extLst xmlns:a="http://schemas.openxmlformats.org/drawingml/2006/main">
              <a:ext uri="{FF2B5EF4-FFF2-40B4-BE49-F238E27FC236}">
                <a16:creationId xmlns:a16="http://schemas.microsoft.com/office/drawing/2014/main" id="{3E8E0721-B8CC-4CE6-80D0-C0E6E463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660" y="4895850"/>
            <a:ext cx="106680" cy="76200"/>
          </a:xfrm>
          <a:custGeom xmlns:a="http://schemas.openxmlformats.org/drawingml/2006/main">
            <a:pathLst>
              <a:path w="106680" h="76200">
                <a:moveTo>
                  <a:pt x="0" y="0"/>
                </a:moveTo>
                <a:lnTo>
                  <a:pt x="53340" y="76200"/>
                </a:lnTo>
                <a:lnTo>
                  <a:pt x="1066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91A1B"/>
            </a:solidFill>
            <a:prstDash val="solid"/>
          </a:ln>
        </p:spPr>
      </p:sp>
      <p:sp>
        <p:nvSpPr>
          <p:cNvPr id="23" name="backend-usage-label">
            <a:extLst xmlns:a="http://schemas.openxmlformats.org/drawingml/2006/main">
              <a:ext uri="{FF2B5EF4-FFF2-40B4-BE49-F238E27FC236}">
                <a16:creationId xmlns:a16="http://schemas.microsoft.com/office/drawing/2014/main" id="{2BF53E8C-2ADA-49E6-99C2-10A47A7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5243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83" b="0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283" b="0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会话 / 额度</a:t>
            </a:r>
          </a:p>
        </p:txBody>
      </p:sp>
      <p:sp>
        <p:nvSpPr>
          <p:cNvPr id="24" name="json-ledger-line">
            <a:extLst xmlns:a="http://schemas.openxmlformats.org/drawingml/2006/main">
              <a:ext uri="{FF2B5EF4-FFF2-40B4-BE49-F238E27FC236}">
                <a16:creationId xmlns:a16="http://schemas.microsoft.com/office/drawing/2014/main" id="{4854CF89-58A4-4177-94D4-C687ECFB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43550"/>
            <a:ext cx="2552700" cy="9525"/>
          </a:xfrm>
          <a:custGeom xmlns:a="http://schemas.openxmlformats.org/drawingml/2006/main">
            <a:pathLst>
              <a:path w="2552700" h="9525">
                <a:moveTo>
                  <a:pt x="25527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38F8C"/>
            </a:solidFill>
            <a:prstDash val="dash"/>
          </a:ln>
        </p:spPr>
      </p:sp>
      <p:sp>
        <p:nvSpPr>
          <p:cNvPr id="25" name="json-ledger-head">
            <a:extLst xmlns:a="http://schemas.openxmlformats.org/drawingml/2006/main">
              <a:ext uri="{FF2B5EF4-FFF2-40B4-BE49-F238E27FC236}">
                <a16:creationId xmlns:a16="http://schemas.microsoft.com/office/drawing/2014/main" id="{B96FBCC6-FB5D-4983-B3F6-7B7C43BD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90210"/>
            <a:ext cx="76200" cy="106680"/>
          </a:xfrm>
          <a:custGeom xmlns:a="http://schemas.openxmlformats.org/drawingml/2006/main">
            <a:pathLst>
              <a:path w="76200" h="106680">
                <a:moveTo>
                  <a:pt x="76200" y="0"/>
                </a:moveTo>
                <a:lnTo>
                  <a:pt x="0" y="53340"/>
                </a:lnTo>
                <a:lnTo>
                  <a:pt x="7620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38F8C"/>
            </a:solidFill>
            <a:prstDash val="solid"/>
          </a:ln>
        </p:spPr>
      </p:sp>
      <p:sp>
        <p:nvSpPr>
          <p:cNvPr id="26" name="json-ledger-label">
            <a:extLst xmlns:a="http://schemas.openxmlformats.org/drawingml/2006/main">
              <a:ext uri="{FF2B5EF4-FFF2-40B4-BE49-F238E27FC236}">
                <a16:creationId xmlns:a16="http://schemas.microsoft.com/office/drawing/2014/main" id="{E08D4236-1189-427C-B20A-F223954D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4350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38F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38F8C"/>
                </a:solidFill>
                <a:latin typeface="PingFang SC"/>
                <a:ea typeface="PingFang SC"/>
                <a:cs typeface="PingFang SC"/>
              </a:rPr>
              <a:t>官方延迟对账</a:t>
            </a:r>
          </a:p>
        </p:txBody>
      </p:sp>
      <p:sp>
        <p:nvSpPr>
          <p:cNvPr id="27" name="browser-card">
            <a:extLst xmlns:a="http://schemas.openxmlformats.org/drawingml/2006/main">
              <a:ext uri="{FF2B5EF4-FFF2-40B4-BE49-F238E27FC236}">
                <a16:creationId xmlns:a16="http://schemas.microsoft.com/office/drawing/2014/main" id="{4D01E21C-5D49-4F66-BB91-E52FC50A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2524125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3335">
            <a:solidFill>
              <a:srgbClr val="B9B1A7"/>
            </a:solidFill>
            <a:prstDash val="solid"/>
          </a:ln>
        </p:spPr>
      </p:sp>
      <p:sp>
        <p:nvSpPr>
          <p:cNvPr id="28" name="browser-title">
            <a:extLst xmlns:a="http://schemas.openxmlformats.org/drawingml/2006/main">
              <a:ext uri="{FF2B5EF4-FFF2-40B4-BE49-F238E27FC236}">
                <a16:creationId xmlns:a16="http://schemas.microsoft.com/office/drawing/2014/main" id="{DDA86DE9-96F4-4F5B-B204-C2E9110D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861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8" b="1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688" b="1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浏览器 / 移动 App</a:t>
            </a:r>
          </a:p>
        </p:txBody>
      </p:sp>
      <p:sp>
        <p:nvSpPr>
          <p:cNvPr id="29" name="browser-subtitle">
            <a:extLst xmlns:a="http://schemas.openxmlformats.org/drawingml/2006/main">
              <a:ext uri="{FF2B5EF4-FFF2-40B4-BE49-F238E27FC236}">
                <a16:creationId xmlns:a16="http://schemas.microsoft.com/office/drawing/2014/main" id="{EE756717-089F-4185-AE85-6F1592DE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rPr>
              <a:t>不可信客户端</a:t>
            </a:r>
          </a:p>
        </p:txBody>
      </p:sp>
      <p:sp>
        <p:nvSpPr>
          <p:cNvPr id="30" name="backend-card">
            <a:extLst xmlns:a="http://schemas.openxmlformats.org/drawingml/2006/main">
              <a:ext uri="{FF2B5EF4-FFF2-40B4-BE49-F238E27FC236}">
                <a16:creationId xmlns:a16="http://schemas.microsoft.com/office/drawing/2014/main" id="{1580648A-A4E1-4F16-8587-BE29A6DC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33675"/>
            <a:ext cx="3114675" cy="1714500"/>
          </a:xfrm>
          <a:prstGeom xmlns:a="http://schemas.openxmlformats.org/drawingml/2006/main" prst="roundRect">
            <a:avLst>
              <a:gd name="adj" fmla="val 7222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6193">
            <a:solidFill>
              <a:srgbClr val="F24C2E"/>
            </a:solidFill>
            <a:prstDash val="solid"/>
          </a:ln>
        </p:spPr>
      </p:sp>
      <p:sp>
        <p:nvSpPr>
          <p:cNvPr id="31" name="backend-accent-orange">
            <a:extLst xmlns:a="http://schemas.openxmlformats.org/drawingml/2006/main">
              <a:ext uri="{FF2B5EF4-FFF2-40B4-BE49-F238E27FC236}">
                <a16:creationId xmlns:a16="http://schemas.microsoft.com/office/drawing/2014/main" id="{4E9E8224-BA5E-48E9-85C3-EE618D83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4C2E"/>
          </a:solidFill>
          <a:ln xmlns:a="http://schemas.openxmlformats.org/drawingml/2006/main" w="0">
            <a:solidFill>
              <a:srgbClr val="F24C2E"/>
            </a:solidFill>
            <a:prstDash val="solid"/>
          </a:ln>
        </p:spPr>
      </p:sp>
      <p:sp>
        <p:nvSpPr>
          <p:cNvPr id="32" name="backend-accent-black">
            <a:extLst xmlns:a="http://schemas.openxmlformats.org/drawingml/2006/main">
              <a:ext uri="{FF2B5EF4-FFF2-40B4-BE49-F238E27FC236}">
                <a16:creationId xmlns:a16="http://schemas.microsoft.com/office/drawing/2014/main" id="{8492239F-2374-4E06-BCBF-78153797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5752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B"/>
          </a:solidFill>
          <a:ln xmlns:a="http://schemas.openxmlformats.org/drawingml/2006/main" w="0">
            <a:solidFill>
              <a:srgbClr val="191A1B"/>
            </a:solidFill>
            <a:prstDash val="solid"/>
          </a:ln>
        </p:spPr>
      </p:sp>
      <p:sp>
        <p:nvSpPr>
          <p:cNvPr id="33" name="backend-title">
            <a:extLst xmlns:a="http://schemas.openxmlformats.org/drawingml/2006/main">
              <a:ext uri="{FF2B5EF4-FFF2-40B4-BE49-F238E27FC236}">
                <a16:creationId xmlns:a16="http://schemas.microsoft.com/office/drawing/2014/main" id="{1A0758FF-9B49-4690-8D05-EED5467A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2124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35" b="1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2835" b="1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业务后端</a:t>
            </a:r>
          </a:p>
        </p:txBody>
      </p:sp>
      <p:sp>
        <p:nvSpPr>
          <p:cNvPr id="34" name="backend-subtitle">
            <a:extLst xmlns:a="http://schemas.openxmlformats.org/drawingml/2006/main">
              <a:ext uri="{FF2B5EF4-FFF2-40B4-BE49-F238E27FC236}">
                <a16:creationId xmlns:a16="http://schemas.microsoft.com/office/drawing/2014/main" id="{D21A827B-7734-452D-8928-2EF42AE0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100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85" b="0">
                <a:solidFill>
                  <a:srgbClr val="5B5B5B"/>
                </a:solidFill>
                <a:latin typeface="PingFang SC"/>
                <a:ea typeface="PingFang SC"/>
                <a:cs typeface="PingFang SC"/>
              </a:defRPr>
            </a:pPr>
            <a:r>
              <a:rPr sz="1485" b="0">
                <a:solidFill>
                  <a:srgbClr val="5B5B5B"/>
                </a:solidFill>
                <a:latin typeface="PingFang SC"/>
                <a:ea typeface="PingFang SC"/>
                <a:cs typeface="PingFang SC"/>
              </a:rPr>
              <a:t>鉴权、额度、会话</a:t>
            </a:r>
          </a:p>
        </p:txBody>
      </p:sp>
      <p:sp>
        <p:nvSpPr>
          <p:cNvPr id="35" name="token-card">
            <a:extLst xmlns:a="http://schemas.openxmlformats.org/drawingml/2006/main">
              <a:ext uri="{FF2B5EF4-FFF2-40B4-BE49-F238E27FC236}">
                <a16:creationId xmlns:a16="http://schemas.microsoft.com/office/drawing/2014/main" id="{C68326E0-4458-4843-A468-A5DA5B3A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790700"/>
            <a:ext cx="25336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5240">
            <a:solidFill>
              <a:srgbClr val="138F8C"/>
            </a:solidFill>
            <a:prstDash val="solid"/>
          </a:ln>
        </p:spPr>
      </p:sp>
      <p:sp>
        <p:nvSpPr>
          <p:cNvPr id="36" name="token-title">
            <a:extLst xmlns:a="http://schemas.openxmlformats.org/drawingml/2006/main">
              <a:ext uri="{FF2B5EF4-FFF2-40B4-BE49-F238E27FC236}">
                <a16:creationId xmlns:a16="http://schemas.microsoft.com/office/drawing/2014/main" id="{C32BC896-3CFB-4F6D-8932-63A15FBF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19145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20" b="1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620" b="1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阿里云 Token 接口</a:t>
            </a:r>
          </a:p>
        </p:txBody>
      </p:sp>
      <p:sp>
        <p:nvSpPr>
          <p:cNvPr id="37" name="token-subtitle">
            <a:extLst xmlns:a="http://schemas.openxmlformats.org/drawingml/2006/main">
              <a:ext uri="{FF2B5EF4-FFF2-40B4-BE49-F238E27FC236}">
                <a16:creationId xmlns:a16="http://schemas.microsoft.com/office/drawing/2014/main" id="{3885EED9-B58A-49AF-B8DC-CB4D92BC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286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rPr>
              <a:t>申请短时 Key</a:t>
            </a:r>
          </a:p>
        </p:txBody>
      </p:sp>
      <p:sp>
        <p:nvSpPr>
          <p:cNvPr id="38" name="realtime-card">
            <a:extLst xmlns:a="http://schemas.openxmlformats.org/drawingml/2006/main">
              <a:ext uri="{FF2B5EF4-FFF2-40B4-BE49-F238E27FC236}">
                <a16:creationId xmlns:a16="http://schemas.microsoft.com/office/drawing/2014/main" id="{D8CE9A51-6B97-4B57-8545-0EBF5EF0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533775"/>
            <a:ext cx="254317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5240">
            <a:solidFill>
              <a:srgbClr val="138F8C"/>
            </a:solidFill>
            <a:prstDash val="solid"/>
          </a:ln>
        </p:spPr>
      </p:sp>
      <p:sp>
        <p:nvSpPr>
          <p:cNvPr id="39" name="realtime-title">
            <a:extLst xmlns:a="http://schemas.openxmlformats.org/drawingml/2006/main">
              <a:ext uri="{FF2B5EF4-FFF2-40B4-BE49-F238E27FC236}">
                <a16:creationId xmlns:a16="http://schemas.microsoft.com/office/drawing/2014/main" id="{321FE1E5-2204-4C15-9FCC-EE4A06BE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3657600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20" b="1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620" b="1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阿里云 Realtime</a:t>
            </a:r>
          </a:p>
        </p:txBody>
      </p:sp>
      <p:sp>
        <p:nvSpPr>
          <p:cNvPr id="40" name="realtime-subtitle">
            <a:extLst xmlns:a="http://schemas.openxmlformats.org/drawingml/2006/main">
              <a:ext uri="{FF2B5EF4-FFF2-40B4-BE49-F238E27FC236}">
                <a16:creationId xmlns:a16="http://schemas.microsoft.com/office/drawing/2014/main" id="{CBD9B4B5-8721-4F64-BF5F-1840FA97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04812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rPr>
              <a:t>SDP / WebRTC</a:t>
            </a:r>
          </a:p>
        </p:txBody>
      </p:sp>
      <p:sp>
        <p:nvSpPr>
          <p:cNvPr id="41" name="ledger-card">
            <a:extLst xmlns:a="http://schemas.openxmlformats.org/drawingml/2006/main">
              <a:ext uri="{FF2B5EF4-FFF2-40B4-BE49-F238E27FC236}">
                <a16:creationId xmlns:a16="http://schemas.microsoft.com/office/drawing/2014/main" id="{BCC7A656-FB05-4F01-AF6D-119F439C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9675"/>
            <a:ext cx="308610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3335">
            <a:solidFill>
              <a:srgbClr val="B9B1A7"/>
            </a:solidFill>
            <a:prstDash val="solid"/>
          </a:ln>
        </p:spPr>
      </p:sp>
      <p:sp>
        <p:nvSpPr>
          <p:cNvPr id="42" name="ledger-title">
            <a:extLst xmlns:a="http://schemas.openxmlformats.org/drawingml/2006/main">
              <a:ext uri="{FF2B5EF4-FFF2-40B4-BE49-F238E27FC236}">
                <a16:creationId xmlns:a16="http://schemas.microsoft.com/office/drawing/2014/main" id="{48AEC238-A751-45BE-A4C9-5CA4122D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143500"/>
            <a:ext cx="2495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8" b="1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688" b="1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用量台账 / 看板</a:t>
            </a:r>
          </a:p>
        </p:txBody>
      </p:sp>
      <p:sp>
        <p:nvSpPr>
          <p:cNvPr id="43" name="ledger-subtitle">
            <a:extLst xmlns:a="http://schemas.openxmlformats.org/drawingml/2006/main">
              <a:ext uri="{FF2B5EF4-FFF2-40B4-BE49-F238E27FC236}">
                <a16:creationId xmlns:a16="http://schemas.microsoft.com/office/drawing/2014/main" id="{AD0F1D44-0A9B-4AF7-B228-27D20973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3402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rPr>
              <a:t>会话、额度、指纹</a:t>
            </a:r>
          </a:p>
        </p:txBody>
      </p:sp>
      <p:sp>
        <p:nvSpPr>
          <p:cNvPr id="44" name="json-card">
            <a:extLst xmlns:a="http://schemas.openxmlformats.org/drawingml/2006/main">
              <a:ext uri="{FF2B5EF4-FFF2-40B4-BE49-F238E27FC236}">
                <a16:creationId xmlns:a16="http://schemas.microsoft.com/office/drawing/2014/main" id="{46FB39AF-D6B8-4970-86AB-5898DD98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019675"/>
            <a:ext cx="2552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3335">
            <a:solidFill>
              <a:srgbClr val="B9B1A7"/>
            </a:solidFill>
            <a:prstDash val="solid"/>
          </a:ln>
        </p:spPr>
      </p:sp>
      <p:sp>
        <p:nvSpPr>
          <p:cNvPr id="45" name="json-title">
            <a:extLst xmlns:a="http://schemas.openxmlformats.org/drawingml/2006/main">
              <a:ext uri="{FF2B5EF4-FFF2-40B4-BE49-F238E27FC236}">
                <a16:creationId xmlns:a16="http://schemas.microsoft.com/office/drawing/2014/main" id="{692BE48C-F7B6-4977-8007-5BCB56B0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114925"/>
            <a:ext cx="1943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8" b="1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688" b="1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官方 JSON</a:t>
            </a:r>
          </a:p>
        </p:txBody>
      </p:sp>
      <p:sp>
        <p:nvSpPr>
          <p:cNvPr id="46" name="json-body">
            <a:extLst xmlns:a="http://schemas.openxmlformats.org/drawingml/2006/main">
              <a:ext uri="{FF2B5EF4-FFF2-40B4-BE49-F238E27FC236}">
                <a16:creationId xmlns:a16="http://schemas.microsoft.com/office/drawing/2014/main" id="{8F1F9110-0508-495D-9186-F3D4C168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476875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rPr>
              <a:t>Request ID /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5B5B"/>
                </a:solidFill>
                <a:latin typeface="PingFang SC"/>
                <a:ea typeface="PingFang SC"/>
                <a:cs typeface="PingFang SC"/>
              </a:rPr>
              <a:t>Token / 金额</a:t>
            </a:r>
          </a:p>
        </p:txBody>
      </p:sp>
      <p:sp>
        <p:nvSpPr>
          <p:cNvPr id="47" name="visibility-accent">
            <a:extLst xmlns:a="http://schemas.openxmlformats.org/drawingml/2006/main">
              <a:ext uri="{FF2B5EF4-FFF2-40B4-BE49-F238E27FC236}">
                <a16:creationId xmlns:a16="http://schemas.microsoft.com/office/drawing/2014/main" id="{C7EAA38F-4B11-4F3E-A251-20D1DA72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9525" cy="1123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4C2E"/>
            </a:solidFill>
            <a:prstDash val="solid"/>
          </a:ln>
        </p:spPr>
      </p:sp>
      <p:sp>
        <p:nvSpPr>
          <p:cNvPr id="48" name="visible-label">
            <a:extLst xmlns:a="http://schemas.openxmlformats.org/drawingml/2006/main">
              <a:ext uri="{FF2B5EF4-FFF2-40B4-BE49-F238E27FC236}">
                <a16:creationId xmlns:a16="http://schemas.microsoft.com/office/drawing/2014/main" id="{515C8271-11EB-4381-9A9C-F605FE71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05550"/>
            <a:ext cx="185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52" b="1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552" b="1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浏览器实际可见：</a:t>
            </a:r>
          </a:p>
        </p:txBody>
      </p:sp>
      <p:sp>
        <p:nvSpPr>
          <p:cNvPr id="49" name="visible-body">
            <a:extLst xmlns:a="http://schemas.openxmlformats.org/drawingml/2006/main">
              <a:ext uri="{FF2B5EF4-FFF2-40B4-BE49-F238E27FC236}">
                <a16:creationId xmlns:a16="http://schemas.microsoft.com/office/drawing/2014/main" id="{7978C117-8372-4AFC-862B-7EB3DD57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3055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18" b="0">
                <a:solidFill>
                  <a:srgbClr val="424242"/>
                </a:solidFill>
                <a:latin typeface="PingFang SC"/>
                <a:ea typeface="PingFang SC"/>
                <a:cs typeface="PingFang SC"/>
              </a:defRPr>
            </a:pPr>
            <a:r>
              <a:rPr sz="1418" b="0">
                <a:solidFill>
                  <a:srgbClr val="424242"/>
                </a:solidFill>
                <a:latin typeface="PingFang SC"/>
                <a:ea typeface="PingFang SC"/>
                <a:cs typeface="PingFang SC"/>
              </a:rPr>
              <a:t>会话 ID、 SDP、 ICE/DTLS 会话凭据、 临时 Key 过期时间、 用量和剩余额度。</a:t>
            </a:r>
          </a:p>
        </p:txBody>
      </p:sp>
      <p:sp>
        <p:nvSpPr>
          <p:cNvPr id="50" name="invisible-label">
            <a:extLst xmlns:a="http://schemas.openxmlformats.org/drawingml/2006/main">
              <a:ext uri="{FF2B5EF4-FFF2-40B4-BE49-F238E27FC236}">
                <a16:creationId xmlns:a16="http://schemas.microsoft.com/office/drawing/2014/main" id="{0D787A2C-810E-4CAD-BC7F-5811270B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734175"/>
            <a:ext cx="1857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52" b="1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552" b="1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浏览器不可见：</a:t>
            </a:r>
          </a:p>
        </p:txBody>
      </p:sp>
      <p:sp>
        <p:nvSpPr>
          <p:cNvPr id="51" name="invisible-key-master">
            <a:extLst xmlns:a="http://schemas.openxmlformats.org/drawingml/2006/main">
              <a:ext uri="{FF2B5EF4-FFF2-40B4-BE49-F238E27FC236}">
                <a16:creationId xmlns:a16="http://schemas.microsoft.com/office/drawing/2014/main" id="{52BE76B4-86AF-444A-82CC-D12E3590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734175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4C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24C2E"/>
                </a:solidFill>
                <a:latin typeface="PingFang SC"/>
                <a:ea typeface="PingFang SC"/>
                <a:cs typeface="PingFang SC"/>
              </a:rPr>
              <a:t>永久主 Key</a:t>
            </a:r>
          </a:p>
        </p:txBody>
      </p:sp>
      <p:sp>
        <p:nvSpPr>
          <p:cNvPr id="52" name="invisible-comma-1">
            <a:extLst xmlns:a="http://schemas.openxmlformats.org/drawingml/2006/main">
              <a:ext uri="{FF2B5EF4-FFF2-40B4-BE49-F238E27FC236}">
                <a16:creationId xmlns:a16="http://schemas.microsoft.com/office/drawing/2014/main" id="{949948D0-D6C5-460A-9002-6B9150A2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6734175"/>
            <a:ext cx="695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4242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24242"/>
                </a:solidFill>
                <a:latin typeface="PingFang SC"/>
                <a:ea typeface="PingFang SC"/>
                <a:cs typeface="PingFang SC"/>
              </a:rPr>
              <a:t>，st-...</a:t>
            </a:r>
          </a:p>
        </p:txBody>
      </p:sp>
      <p:sp>
        <p:nvSpPr>
          <p:cNvPr id="53" name="invisible-key-temp">
            <a:extLst xmlns:a="http://schemas.openxmlformats.org/drawingml/2006/main">
              <a:ext uri="{FF2B5EF4-FFF2-40B4-BE49-F238E27FC236}">
                <a16:creationId xmlns:a16="http://schemas.microsoft.com/office/drawing/2014/main" id="{AEB7A9F9-D259-4E5B-A022-D8DB9A21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734175"/>
            <a:ext cx="904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4C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24C2E"/>
                </a:solidFill>
                <a:latin typeface="PingFang SC"/>
                <a:ea typeface="PingFang SC"/>
                <a:cs typeface="PingFang SC"/>
              </a:rPr>
              <a:t>短时 Key</a:t>
            </a:r>
          </a:p>
        </p:txBody>
      </p:sp>
      <p:sp>
        <p:nvSpPr>
          <p:cNvPr id="54" name="invisible-mid">
            <a:extLst xmlns:a="http://schemas.openxmlformats.org/drawingml/2006/main">
              <a:ext uri="{FF2B5EF4-FFF2-40B4-BE49-F238E27FC236}">
                <a16:creationId xmlns:a16="http://schemas.microsoft.com/office/drawing/2014/main" id="{2ED83D58-4743-49FF-AC94-C0BFA206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734175"/>
            <a:ext cx="2305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4242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24242"/>
                </a:solidFill>
                <a:latin typeface="PingFang SC"/>
                <a:ea typeface="PingFang SC"/>
                <a:cs typeface="PingFang SC"/>
              </a:rPr>
              <a:t>，以及后端发往阿里云的</a:t>
            </a:r>
          </a:p>
        </p:txBody>
      </p:sp>
      <p:sp>
        <p:nvSpPr>
          <p:cNvPr id="55" name="invisible-auth">
            <a:extLst xmlns:a="http://schemas.openxmlformats.org/drawingml/2006/main">
              <a:ext uri="{FF2B5EF4-FFF2-40B4-BE49-F238E27FC236}">
                <a16:creationId xmlns:a16="http://schemas.microsoft.com/office/drawing/2014/main" id="{34C79725-BF27-4C5C-A306-02D5C936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734175"/>
            <a:ext cx="1257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4C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4C2E"/>
                </a:solidFill>
                <a:latin typeface="Arial"/>
                <a:ea typeface="Arial"/>
                <a:cs typeface="Arial"/>
              </a:rPr>
              <a:t>Authorization:</a:t>
            </a:r>
          </a:p>
        </p:txBody>
      </p:sp>
      <p:sp>
        <p:nvSpPr>
          <p:cNvPr id="56" name="invisible-end">
            <a:extLst xmlns:a="http://schemas.openxmlformats.org/drawingml/2006/main">
              <a:ext uri="{FF2B5EF4-FFF2-40B4-BE49-F238E27FC236}">
                <a16:creationId xmlns:a16="http://schemas.microsoft.com/office/drawing/2014/main" id="{15BDA767-1AF3-4632-816A-75A9934B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734175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4242"/>
                </a:solidFill>
                <a:latin typeface="Arial"/>
                <a:ea typeface="Arial"/>
                <a:cs typeface="Arial"/>
              </a:rPr>
              <a:t>Bearer ... 请求头。</a:t>
            </a:r>
          </a:p>
        </p:txBody>
      </p:sp>
      <p:sp>
        <p:nvSpPr>
          <p:cNvPr id="57" name="credential-note">
            <a:extLst xmlns:a="http://schemas.openxmlformats.org/drawingml/2006/main">
              <a:ext uri="{FF2B5EF4-FFF2-40B4-BE49-F238E27FC236}">
                <a16:creationId xmlns:a16="http://schemas.microsoft.com/office/drawing/2014/main" id="{399BA995-D748-439C-964F-D88BD0CA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086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5A5A5A"/>
                </a:solidFill>
                <a:latin typeface="PingFang SC"/>
                <a:ea typeface="PingFang SC"/>
                <a:cs typeface="PingFang SC"/>
              </a:defRPr>
            </a:pPr>
            <a:r>
              <a:rPr sz="1215" b="0">
                <a:solidFill>
                  <a:srgbClr val="5A5A5A"/>
                </a:solidFill>
                <a:latin typeface="PingFang SC"/>
                <a:ea typeface="PingFang SC"/>
                <a:cs typeface="PingFang SC"/>
              </a:rPr>
              <a:t>WebRTC 会话凭据仅用于当前连接，不等同于可调用任意模型接口的 API Key。</a:t>
            </a:r>
          </a:p>
        </p:txBody>
      </p:sp>
      <p:sp>
        <p:nvSpPr>
          <p:cNvPr id="58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6C51F333-3537-4ECF-82F4-32EB4CAF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81900"/>
            <a:ext cx="102203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2CDC5"/>
            </a:solidFill>
            <a:prstDash val="solid"/>
          </a:ln>
        </p:spPr>
      </p:sp>
      <p:sp>
        <p:nvSpPr>
          <p:cNvPr id="59" name="bottom-vertical-divider">
            <a:extLst xmlns:a="http://schemas.openxmlformats.org/drawingml/2006/main">
              <a:ext uri="{FF2B5EF4-FFF2-40B4-BE49-F238E27FC236}">
                <a16:creationId xmlns:a16="http://schemas.microsoft.com/office/drawing/2014/main" id="{1117CB5E-B3AD-470C-A4BA-DBD5DC34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7581900"/>
            <a:ext cx="9525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9B1A7"/>
            </a:solidFill>
            <a:prstDash val="dash"/>
          </a:ln>
        </p:spPr>
      </p:sp>
      <p:sp>
        <p:nvSpPr>
          <p:cNvPr id="60" name="user-title">
            <a:extLst xmlns:a="http://schemas.openxmlformats.org/drawingml/2006/main">
              <a:ext uri="{FF2B5EF4-FFF2-40B4-BE49-F238E27FC236}">
                <a16:creationId xmlns:a16="http://schemas.microsoft.com/office/drawing/2014/main" id="{C0E171CE-6788-4184-A779-3069286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58100"/>
            <a:ext cx="1266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83" b="1">
                <a:solidFill>
                  <a:srgbClr val="191A1B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191A1B"/>
                </a:solidFill>
                <a:latin typeface="Arial"/>
                <a:ea typeface="Arial"/>
                <a:cs typeface="Arial"/>
              </a:rPr>
              <a:t>user_id</a:t>
            </a:r>
          </a:p>
        </p:txBody>
      </p:sp>
      <p:sp>
        <p:nvSpPr>
          <p:cNvPr id="61" name="user-sub">
            <a:extLst xmlns:a="http://schemas.openxmlformats.org/drawingml/2006/main">
              <a:ext uri="{FF2B5EF4-FFF2-40B4-BE49-F238E27FC236}">
                <a16:creationId xmlns:a16="http://schemas.microsoft.com/office/drawing/2014/main" id="{3B82FF20-98C9-4E33-B57C-A5380F1A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9147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454545"/>
                </a:solidFill>
                <a:latin typeface="PingFang SC"/>
                <a:ea typeface="PingFang SC"/>
                <a:cs typeface="PingFang SC"/>
              </a:defRPr>
            </a:pPr>
            <a:r>
              <a:rPr sz="1148" b="0">
                <a:solidFill>
                  <a:srgbClr val="454545"/>
                </a:solidFill>
                <a:latin typeface="PingFang SC"/>
                <a:ea typeface="PingFang SC"/>
                <a:cs typeface="PingFang SC"/>
              </a:rPr>
              <a:t>套餐 / 日额度</a:t>
            </a:r>
          </a:p>
        </p:txBody>
      </p:sp>
      <p:sp>
        <p:nvSpPr>
          <p:cNvPr id="62" name="session-title">
            <a:extLst xmlns:a="http://schemas.openxmlformats.org/drawingml/2006/main">
              <a:ext uri="{FF2B5EF4-FFF2-40B4-BE49-F238E27FC236}">
                <a16:creationId xmlns:a16="http://schemas.microsoft.com/office/drawing/2014/main" id="{1C872A32-2664-4806-8220-52E44C0B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58100"/>
            <a:ext cx="1438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83" b="1">
                <a:solidFill>
                  <a:srgbClr val="191A1B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191A1B"/>
                </a:solidFill>
                <a:latin typeface="Arial"/>
                <a:ea typeface="Arial"/>
                <a:cs typeface="Arial"/>
              </a:rPr>
              <a:t>session_id</a:t>
            </a:r>
          </a:p>
        </p:txBody>
      </p:sp>
      <p:sp>
        <p:nvSpPr>
          <p:cNvPr id="63" name="session-sub">
            <a:extLst xmlns:a="http://schemas.openxmlformats.org/drawingml/2006/main">
              <a:ext uri="{FF2B5EF4-FFF2-40B4-BE49-F238E27FC236}">
                <a16:creationId xmlns:a16="http://schemas.microsoft.com/office/drawing/2014/main" id="{E187ED43-E3FB-4183-8AFE-6CCCA90F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991475"/>
            <a:ext cx="143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454545"/>
                </a:solidFill>
                <a:latin typeface="PingFang SC"/>
                <a:ea typeface="PingFang SC"/>
                <a:cs typeface="PingFang SC"/>
              </a:defRPr>
            </a:pPr>
            <a:r>
              <a:rPr sz="1148" b="0">
                <a:solidFill>
                  <a:srgbClr val="454545"/>
                </a:solidFill>
                <a:latin typeface="PingFang SC"/>
                <a:ea typeface="PingFang SC"/>
                <a:cs typeface="PingFang SC"/>
              </a:rPr>
              <a:t>本地唯一会话</a:t>
            </a:r>
          </a:p>
        </p:txBody>
      </p:sp>
      <p:sp>
        <p:nvSpPr>
          <p:cNvPr id="64" name="key-title">
            <a:extLst xmlns:a="http://schemas.openxmlformats.org/drawingml/2006/main">
              <a:ext uri="{FF2B5EF4-FFF2-40B4-BE49-F238E27FC236}">
                <a16:creationId xmlns:a16="http://schemas.microsoft.com/office/drawing/2014/main" id="{8EFFC8A0-90F1-4DC1-B5EE-4027041E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7658100"/>
            <a:ext cx="1533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83" b="1">
                <a:solidFill>
                  <a:srgbClr val="F24C2E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F24C2E"/>
                </a:solidFill>
                <a:latin typeface="Arial"/>
                <a:ea typeface="Arial"/>
                <a:cs typeface="Arial"/>
              </a:rPr>
              <a:t>Key ID / 指纹</a:t>
            </a:r>
          </a:p>
        </p:txBody>
      </p:sp>
      <p:sp>
        <p:nvSpPr>
          <p:cNvPr id="65" name="key-sub">
            <a:extLst xmlns:a="http://schemas.openxmlformats.org/drawingml/2006/main">
              <a:ext uri="{FF2B5EF4-FFF2-40B4-BE49-F238E27FC236}">
                <a16:creationId xmlns:a16="http://schemas.microsoft.com/office/drawing/2014/main" id="{53A148FC-B358-4AD5-AE67-1F0A7006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7991475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454545"/>
                </a:solidFill>
                <a:latin typeface="PingFang SC"/>
                <a:ea typeface="PingFang SC"/>
                <a:cs typeface="PingFang SC"/>
              </a:defRPr>
            </a:pPr>
            <a:r>
              <a:rPr sz="1148" b="0">
                <a:solidFill>
                  <a:srgbClr val="454545"/>
                </a:solidFill>
                <a:latin typeface="PingFang SC"/>
                <a:ea typeface="PingFang SC"/>
                <a:cs typeface="PingFang SC"/>
              </a:rPr>
              <a:t>不保存明文</a:t>
            </a:r>
          </a:p>
        </p:txBody>
      </p:sp>
      <p:sp>
        <p:nvSpPr>
          <p:cNvPr id="66" name="task-title">
            <a:extLst xmlns:a="http://schemas.openxmlformats.org/drawingml/2006/main">
              <a:ext uri="{FF2B5EF4-FFF2-40B4-BE49-F238E27FC236}">
                <a16:creationId xmlns:a16="http://schemas.microsoft.com/office/drawing/2014/main" id="{3C028633-A475-46F0-BD02-22385B56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7658100"/>
            <a:ext cx="1362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83" b="1">
                <a:solidFill>
                  <a:srgbClr val="138F8C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138F8C"/>
                </a:solidFill>
                <a:latin typeface="Arial"/>
                <a:ea typeface="Arial"/>
                <a:cs typeface="Arial"/>
              </a:rPr>
              <a:t>task_uuid</a:t>
            </a:r>
          </a:p>
        </p:txBody>
      </p:sp>
      <p:sp>
        <p:nvSpPr>
          <p:cNvPr id="67" name="task-sub">
            <a:extLst xmlns:a="http://schemas.openxmlformats.org/drawingml/2006/main">
              <a:ext uri="{FF2B5EF4-FFF2-40B4-BE49-F238E27FC236}">
                <a16:creationId xmlns:a16="http://schemas.microsoft.com/office/drawing/2014/main" id="{83261BAD-FAE1-44A4-BC12-2724E3F7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7991475"/>
            <a:ext cx="1362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454545"/>
                </a:solidFill>
                <a:latin typeface="PingFang SC"/>
                <a:ea typeface="PingFang SC"/>
                <a:cs typeface="PingFang SC"/>
              </a:defRPr>
            </a:pPr>
            <a:r>
              <a:rPr sz="1148" b="0">
                <a:solidFill>
                  <a:srgbClr val="454545"/>
                </a:solidFill>
                <a:latin typeface="PingFang SC"/>
                <a:ea typeface="PingFang SC"/>
                <a:cs typeface="PingFang SC"/>
              </a:rPr>
              <a:t>供应商会话</a:t>
            </a:r>
          </a:p>
        </p:txBody>
      </p:sp>
      <p:sp>
        <p:nvSpPr>
          <p:cNvPr id="68" name="request-title">
            <a:extLst xmlns:a="http://schemas.openxmlformats.org/drawingml/2006/main">
              <a:ext uri="{FF2B5EF4-FFF2-40B4-BE49-F238E27FC236}">
                <a16:creationId xmlns:a16="http://schemas.microsoft.com/office/drawing/2014/main" id="{D942CE3D-9E9E-4D42-BD5A-DD41D174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658100"/>
            <a:ext cx="1362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83" b="1">
                <a:solidFill>
                  <a:srgbClr val="138F8C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138F8C"/>
                </a:solidFill>
                <a:latin typeface="Arial"/>
                <a:ea typeface="Arial"/>
                <a:cs typeface="Arial"/>
              </a:rPr>
              <a:t>request_id</a:t>
            </a:r>
          </a:p>
        </p:txBody>
      </p:sp>
      <p:sp>
        <p:nvSpPr>
          <p:cNvPr id="69" name="request-sub">
            <a:extLst xmlns:a="http://schemas.openxmlformats.org/drawingml/2006/main">
              <a:ext uri="{FF2B5EF4-FFF2-40B4-BE49-F238E27FC236}">
                <a16:creationId xmlns:a16="http://schemas.microsoft.com/office/drawing/2014/main" id="{1A274B7F-ACB1-44B4-978A-8ECB239B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991475"/>
            <a:ext cx="1362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454545"/>
                </a:solidFill>
                <a:latin typeface="PingFang SC"/>
                <a:ea typeface="PingFang SC"/>
                <a:cs typeface="PingFang SC"/>
              </a:defRPr>
            </a:pPr>
            <a:r>
              <a:rPr sz="1148" b="0">
                <a:solidFill>
                  <a:srgbClr val="454545"/>
                </a:solidFill>
                <a:latin typeface="PingFang SC"/>
                <a:ea typeface="PingFang SC"/>
                <a:cs typeface="PingFang SC"/>
              </a:rPr>
              <a:t>官方最终记录</a:t>
            </a:r>
          </a:p>
        </p:txBody>
      </p:sp>
      <p:sp>
        <p:nvSpPr>
          <p:cNvPr id="70" name="lineage-user-session-dot">
            <a:extLst xmlns:a="http://schemas.openxmlformats.org/drawingml/2006/main">
              <a:ext uri="{FF2B5EF4-FFF2-40B4-BE49-F238E27FC236}">
                <a16:creationId xmlns:a16="http://schemas.microsoft.com/office/drawing/2014/main" id="{D6F08B7E-EA0A-47DB-A398-E7860DA9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96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solidFill>
              <a:srgbClr val="B8B8B8"/>
            </a:solidFill>
            <a:prstDash val="solid"/>
          </a:ln>
        </p:spPr>
      </p:sp>
      <p:sp>
        <p:nvSpPr>
          <p:cNvPr id="71" name="lineage-user-session-line">
            <a:extLst xmlns:a="http://schemas.openxmlformats.org/drawingml/2006/main">
              <a:ext uri="{FF2B5EF4-FFF2-40B4-BE49-F238E27FC236}">
                <a16:creationId xmlns:a16="http://schemas.microsoft.com/office/drawing/2014/main" id="{99608887-073B-4B27-BE69-CFE0E5F2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8020050"/>
            <a:ext cx="504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B"/>
            </a:solidFill>
            <a:prstDash val="solid"/>
          </a:ln>
        </p:spPr>
      </p:sp>
      <p:sp>
        <p:nvSpPr>
          <p:cNvPr id="72" name="lineage-user-session-head">
            <a:extLst xmlns:a="http://schemas.openxmlformats.org/drawingml/2006/main">
              <a:ext uri="{FF2B5EF4-FFF2-40B4-BE49-F238E27FC236}">
                <a16:creationId xmlns:a16="http://schemas.microsoft.com/office/drawing/2014/main" id="{D84FC243-D918-4E63-B55D-B20F9C5A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7966710"/>
            <a:ext cx="76200" cy="106680"/>
          </a:xfrm>
          <a:custGeom xmlns:a="http://schemas.openxmlformats.org/drawingml/2006/main">
            <a:pathLst>
              <a:path w="76200" h="106680">
                <a:moveTo>
                  <a:pt x="0" y="0"/>
                </a:moveTo>
                <a:lnTo>
                  <a:pt x="76200" y="53340"/>
                </a:lnTo>
                <a:lnTo>
                  <a:pt x="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91A1B"/>
            </a:solidFill>
            <a:prstDash val="solid"/>
          </a:ln>
        </p:spPr>
      </p:sp>
      <p:sp>
        <p:nvSpPr>
          <p:cNvPr id="73" name="lineage-session-key-dot">
            <a:extLst xmlns:a="http://schemas.openxmlformats.org/drawingml/2006/main">
              <a:ext uri="{FF2B5EF4-FFF2-40B4-BE49-F238E27FC236}">
                <a16:creationId xmlns:a16="http://schemas.microsoft.com/office/drawing/2014/main" id="{AFD5830F-9412-421D-8ED1-5675070A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796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solidFill>
              <a:srgbClr val="B8B8B8"/>
            </a:solidFill>
            <a:prstDash val="solid"/>
          </a:ln>
        </p:spPr>
      </p:sp>
      <p:sp>
        <p:nvSpPr>
          <p:cNvPr id="74" name="lineage-session-key-line">
            <a:extLst xmlns:a="http://schemas.openxmlformats.org/drawingml/2006/main">
              <a:ext uri="{FF2B5EF4-FFF2-40B4-BE49-F238E27FC236}">
                <a16:creationId xmlns:a16="http://schemas.microsoft.com/office/drawing/2014/main" id="{C1B38E65-0B8B-4CEE-A1B9-B75E775C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8020050"/>
            <a:ext cx="504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B"/>
            </a:solidFill>
            <a:prstDash val="solid"/>
          </a:ln>
        </p:spPr>
      </p:sp>
      <p:sp>
        <p:nvSpPr>
          <p:cNvPr id="75" name="lineage-session-key-head">
            <a:extLst xmlns:a="http://schemas.openxmlformats.org/drawingml/2006/main">
              <a:ext uri="{FF2B5EF4-FFF2-40B4-BE49-F238E27FC236}">
                <a16:creationId xmlns:a16="http://schemas.microsoft.com/office/drawing/2014/main" id="{BCCF1885-5E70-4F24-A5F2-3CF2A337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966710"/>
            <a:ext cx="76200" cy="106680"/>
          </a:xfrm>
          <a:custGeom xmlns:a="http://schemas.openxmlformats.org/drawingml/2006/main">
            <a:pathLst>
              <a:path w="76200" h="106680">
                <a:moveTo>
                  <a:pt x="0" y="0"/>
                </a:moveTo>
                <a:lnTo>
                  <a:pt x="76200" y="53340"/>
                </a:lnTo>
                <a:lnTo>
                  <a:pt x="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91A1B"/>
            </a:solidFill>
            <a:prstDash val="solid"/>
          </a:ln>
        </p:spPr>
      </p:sp>
      <p:sp>
        <p:nvSpPr>
          <p:cNvPr id="76" name="lineage-key-task-dot">
            <a:extLst xmlns:a="http://schemas.openxmlformats.org/drawingml/2006/main">
              <a:ext uri="{FF2B5EF4-FFF2-40B4-BE49-F238E27FC236}">
                <a16:creationId xmlns:a16="http://schemas.microsoft.com/office/drawing/2014/main" id="{AFC7B833-BDFD-4277-862D-82EF5210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796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solidFill>
              <a:srgbClr val="B8B8B8"/>
            </a:solidFill>
            <a:prstDash val="solid"/>
          </a:ln>
        </p:spPr>
      </p:sp>
      <p:sp>
        <p:nvSpPr>
          <p:cNvPr id="77" name="lineage-key-task-line">
            <a:extLst xmlns:a="http://schemas.openxmlformats.org/drawingml/2006/main">
              <a:ext uri="{FF2B5EF4-FFF2-40B4-BE49-F238E27FC236}">
                <a16:creationId xmlns:a16="http://schemas.microsoft.com/office/drawing/2014/main" id="{A309D7B5-94D4-466B-856F-0A4C7CE1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8020050"/>
            <a:ext cx="504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B"/>
            </a:solidFill>
            <a:prstDash val="solid"/>
          </a:ln>
        </p:spPr>
      </p:sp>
      <p:sp>
        <p:nvSpPr>
          <p:cNvPr id="78" name="lineage-key-task-head">
            <a:extLst xmlns:a="http://schemas.openxmlformats.org/drawingml/2006/main">
              <a:ext uri="{FF2B5EF4-FFF2-40B4-BE49-F238E27FC236}">
                <a16:creationId xmlns:a16="http://schemas.microsoft.com/office/drawing/2014/main" id="{7FF6A657-99F8-4074-8A4A-D78FBEB6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7966710"/>
            <a:ext cx="76200" cy="106680"/>
          </a:xfrm>
          <a:custGeom xmlns:a="http://schemas.openxmlformats.org/drawingml/2006/main">
            <a:pathLst>
              <a:path w="76200" h="106680">
                <a:moveTo>
                  <a:pt x="0" y="0"/>
                </a:moveTo>
                <a:lnTo>
                  <a:pt x="76200" y="53340"/>
                </a:lnTo>
                <a:lnTo>
                  <a:pt x="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91A1B"/>
            </a:solidFill>
            <a:prstDash val="solid"/>
          </a:ln>
        </p:spPr>
      </p:sp>
      <p:sp>
        <p:nvSpPr>
          <p:cNvPr id="79" name="lineage-task-request-dot">
            <a:extLst xmlns:a="http://schemas.openxmlformats.org/drawingml/2006/main">
              <a:ext uri="{FF2B5EF4-FFF2-40B4-BE49-F238E27FC236}">
                <a16:creationId xmlns:a16="http://schemas.microsoft.com/office/drawing/2014/main" id="{79A48467-6091-4256-8E28-66D6237B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96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solidFill>
              <a:srgbClr val="B8B8B8"/>
            </a:solidFill>
            <a:prstDash val="solid"/>
          </a:ln>
        </p:spPr>
      </p:sp>
      <p:sp>
        <p:nvSpPr>
          <p:cNvPr id="80" name="lineage-task-request-line">
            <a:extLst xmlns:a="http://schemas.openxmlformats.org/drawingml/2006/main">
              <a:ext uri="{FF2B5EF4-FFF2-40B4-BE49-F238E27FC236}">
                <a16:creationId xmlns:a16="http://schemas.microsoft.com/office/drawing/2014/main" id="{24A2CD03-C3E0-4A95-A913-B5E877C0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020050"/>
            <a:ext cx="438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B"/>
            </a:solidFill>
            <a:prstDash val="solid"/>
          </a:ln>
        </p:spPr>
      </p:sp>
      <p:sp>
        <p:nvSpPr>
          <p:cNvPr id="81" name="lineage-task-request-head">
            <a:extLst xmlns:a="http://schemas.openxmlformats.org/drawingml/2006/main">
              <a:ext uri="{FF2B5EF4-FFF2-40B4-BE49-F238E27FC236}">
                <a16:creationId xmlns:a16="http://schemas.microsoft.com/office/drawing/2014/main" id="{D75C2A8A-8A63-4781-A76E-ED6D3F9B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7966710"/>
            <a:ext cx="76200" cy="106680"/>
          </a:xfrm>
          <a:custGeom xmlns:a="http://schemas.openxmlformats.org/drawingml/2006/main">
            <a:pathLst>
              <a:path w="76200" h="106680">
                <a:moveTo>
                  <a:pt x="0" y="0"/>
                </a:moveTo>
                <a:lnTo>
                  <a:pt x="76200" y="53340"/>
                </a:lnTo>
                <a:lnTo>
                  <a:pt x="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91A1B"/>
            </a:solidFill>
            <a:prstDash val="solid"/>
          </a:ln>
        </p:spPr>
      </p:sp>
      <p:sp>
        <p:nvSpPr>
          <p:cNvPr id="82" name="lineage-note">
            <a:extLst xmlns:a="http://schemas.openxmlformats.org/drawingml/2006/main">
              <a:ext uri="{FF2B5EF4-FFF2-40B4-BE49-F238E27FC236}">
                <a16:creationId xmlns:a16="http://schemas.microsoft.com/office/drawing/2014/main" id="{CBFE1B49-C27C-472C-8826-E48A7068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362950"/>
            <a:ext cx="1021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83" b="0">
                <a:solidFill>
                  <a:srgbClr val="5A5A5A"/>
                </a:solidFill>
                <a:latin typeface="PingFang SC"/>
                <a:ea typeface="PingFang SC"/>
                <a:cs typeface="PingFang SC"/>
              </a:defRPr>
            </a:pPr>
            <a:r>
              <a:rPr sz="1283" b="0">
                <a:solidFill>
                  <a:srgbClr val="5A5A5A"/>
                </a:solidFill>
                <a:latin typeface="PingFang SC"/>
                <a:ea typeface="PingFang SC"/>
                <a:cs typeface="PingFang SC"/>
              </a:rPr>
              <a:t>用户归属以 user_id 为主键， 会话以 session_id 为最小计量单元， 官方记录通过 task_uuid 匹配， 并以 request_id 去重。</a:t>
            </a:r>
          </a:p>
        </p:txBody>
      </p:sp>
      <p:sp>
        <p:nvSpPr>
          <p:cNvPr id="83" name="conclusion-backend">
            <a:extLst xmlns:a="http://schemas.openxmlformats.org/drawingml/2006/main">
              <a:ext uri="{FF2B5EF4-FFF2-40B4-BE49-F238E27FC236}">
                <a16:creationId xmlns:a16="http://schemas.microsoft.com/office/drawing/2014/main" id="{B0FE3253-37B8-4DD1-A87F-1F147102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7724775"/>
            <a:ext cx="100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20" b="1">
                <a:solidFill>
                  <a:srgbClr val="F24C2E"/>
                </a:solidFill>
                <a:latin typeface="PingFang SC"/>
                <a:ea typeface="PingFang SC"/>
                <a:cs typeface="PingFang SC"/>
              </a:defRPr>
            </a:pPr>
            <a:r>
              <a:rPr sz="1620" b="1">
                <a:solidFill>
                  <a:srgbClr val="F24C2E"/>
                </a:solidFill>
                <a:latin typeface="PingFang SC"/>
                <a:ea typeface="PingFang SC"/>
                <a:cs typeface="PingFang SC"/>
              </a:rPr>
              <a:t>业务后端</a:t>
            </a:r>
          </a:p>
        </p:txBody>
      </p:sp>
      <p:sp>
        <p:nvSpPr>
          <p:cNvPr id="84" name="conclusion-line1-rest">
            <a:extLst xmlns:a="http://schemas.openxmlformats.org/drawingml/2006/main">
              <a:ext uri="{FF2B5EF4-FFF2-40B4-BE49-F238E27FC236}">
                <a16:creationId xmlns:a16="http://schemas.microsoft.com/office/drawing/2014/main" id="{02172260-0C43-4A58-AAF0-8C9DDA49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72477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85" b="0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485" b="0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是控制中心，用量台账是</a:t>
            </a:r>
          </a:p>
        </p:txBody>
      </p:sp>
      <p:sp>
        <p:nvSpPr>
          <p:cNvPr id="85" name="conclusion-realtime">
            <a:extLst xmlns:a="http://schemas.openxmlformats.org/drawingml/2006/main">
              <a:ext uri="{FF2B5EF4-FFF2-40B4-BE49-F238E27FC236}">
                <a16:creationId xmlns:a16="http://schemas.microsoft.com/office/drawing/2014/main" id="{233495C4-5EDF-4F1F-BAC0-B3F42957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81153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52" b="1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552" b="1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实时管理</a:t>
            </a:r>
          </a:p>
        </p:txBody>
      </p:sp>
      <p:sp>
        <p:nvSpPr>
          <p:cNvPr id="86" name="conclusion-line2-mid">
            <a:extLst xmlns:a="http://schemas.openxmlformats.org/drawingml/2006/main">
              <a:ext uri="{FF2B5EF4-FFF2-40B4-BE49-F238E27FC236}">
                <a16:creationId xmlns:a16="http://schemas.microsoft.com/office/drawing/2014/main" id="{E16DDB23-86B6-4175-8386-3F6E64B9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81153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85" b="0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485" b="0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依据，官方 JSON 是</a:t>
            </a:r>
          </a:p>
        </p:txBody>
      </p:sp>
      <p:sp>
        <p:nvSpPr>
          <p:cNvPr id="87" name="conclusion-audit">
            <a:extLst xmlns:a="http://schemas.openxmlformats.org/drawingml/2006/main">
              <a:ext uri="{FF2B5EF4-FFF2-40B4-BE49-F238E27FC236}">
                <a16:creationId xmlns:a16="http://schemas.microsoft.com/office/drawing/2014/main" id="{13660279-CBF9-47FD-9B0F-C64A1AB7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52" b="1">
                <a:solidFill>
                  <a:srgbClr val="138F8C"/>
                </a:solidFill>
                <a:latin typeface="PingFang SC"/>
                <a:ea typeface="PingFang SC"/>
                <a:cs typeface="PingFang SC"/>
              </a:defRPr>
            </a:pPr>
            <a:r>
              <a:rPr sz="1552" b="1">
                <a:solidFill>
                  <a:srgbClr val="138F8C"/>
                </a:solidFill>
                <a:latin typeface="PingFang SC"/>
                <a:ea typeface="PingFang SC"/>
                <a:cs typeface="PingFang SC"/>
              </a:rPr>
              <a:t>最终审计</a:t>
            </a:r>
          </a:p>
        </p:txBody>
      </p:sp>
      <p:sp>
        <p:nvSpPr>
          <p:cNvPr id="88" name="conclusion-line2-end">
            <a:extLst xmlns:a="http://schemas.openxmlformats.org/drawingml/2006/main">
              <a:ext uri="{FF2B5EF4-FFF2-40B4-BE49-F238E27FC236}">
                <a16:creationId xmlns:a16="http://schemas.microsoft.com/office/drawing/2014/main" id="{270BAF14-E910-42E3-82C7-9BA854CC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25" y="81153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85" b="0">
                <a:solidFill>
                  <a:srgbClr val="191A1B"/>
                </a:solidFill>
                <a:latin typeface="PingFang SC"/>
                <a:ea typeface="PingFang SC"/>
                <a:cs typeface="PingFang SC"/>
              </a:defRPr>
            </a:pPr>
            <a:r>
              <a:rPr sz="1485" b="0">
                <a:solidFill>
                  <a:srgbClr val="191A1B"/>
                </a:solidFill>
                <a:latin typeface="PingFang SC"/>
                <a:ea typeface="PingFang SC"/>
                <a:cs typeface="PingFang SC"/>
              </a:rPr>
              <a:t>依据。</a:t>
            </a:r>
          </a:p>
        </p:txBody>
      </p:sp>
    </p:spTree>
    <p:extLst>
      <p:ext uri="{BB962C8B-B14F-4D97-AF65-F5344CB8AC3E}">
        <p14:creationId xmlns:p14="http://schemas.microsoft.com/office/powerpoint/2010/main" val="773657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2026-07-16T08:39:27.8990000Z</dcterms:created>
  <dcterms:modified xsi:type="dcterms:W3CDTF">2026-07-16T08:39:27.8990000Z</dcterms:modified>
</coreProperties>
</file>