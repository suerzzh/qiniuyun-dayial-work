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ic_r1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7093" y="4606011"/>
            <a:ext cx="233336" cy="342536"/>
          </a:xfrm>
          <a:prstGeom prst="rect">
            <a:avLst/>
          </a:prstGeom>
        </p:spPr>
      </p:pic>
      <p:pic>
        <p:nvPicPr>
          <p:cNvPr id="5" name="Picture 4" descr="ic_r1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055" y="4649737"/>
            <a:ext cx="284371" cy="225929"/>
          </a:xfrm>
          <a:prstGeom prst="rect">
            <a:avLst/>
          </a:prstGeom>
        </p:spPr>
      </p:pic>
      <p:pic>
        <p:nvPicPr>
          <p:cNvPr id="6" name="Picture 5" descr="ic_r1c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6680" y="4256184"/>
            <a:ext cx="794788" cy="524733"/>
          </a:xfrm>
          <a:prstGeom prst="rect">
            <a:avLst/>
          </a:prstGeom>
        </p:spPr>
      </p:pic>
      <p:pic>
        <p:nvPicPr>
          <p:cNvPr id="7" name="Picture 6" descr="ic_r2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3143" y="4394661"/>
            <a:ext cx="218755" cy="473716"/>
          </a:xfrm>
          <a:prstGeom prst="rect">
            <a:avLst/>
          </a:prstGeom>
        </p:spPr>
      </p:pic>
      <p:pic>
        <p:nvPicPr>
          <p:cNvPr id="8" name="Picture 7" descr="ic_r3c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7309" y="5495143"/>
            <a:ext cx="204162" cy="218639"/>
          </a:xfrm>
          <a:prstGeom prst="rect">
            <a:avLst/>
          </a:prstGeom>
        </p:spPr>
      </p:pic>
      <p:pic>
        <p:nvPicPr>
          <p:cNvPr id="9" name="Picture 8" descr="ic_r3c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2936" y="5480570"/>
            <a:ext cx="247918" cy="255076"/>
          </a:xfrm>
          <a:prstGeom prst="rect">
            <a:avLst/>
          </a:prstGeom>
        </p:spPr>
      </p:pic>
      <p:pic>
        <p:nvPicPr>
          <p:cNvPr id="10" name="Picture 9" descr="ic_r3c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1272" y="5465990"/>
            <a:ext cx="277080" cy="284229"/>
          </a:xfrm>
          <a:prstGeom prst="rect">
            <a:avLst/>
          </a:prstGeom>
        </p:spPr>
      </p:pic>
      <p:pic>
        <p:nvPicPr>
          <p:cNvPr id="11" name="Picture 10" descr="ic_r4c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54190" y="5495143"/>
            <a:ext cx="262499" cy="218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1045" y="641346"/>
            <a:ext cx="1130206" cy="2186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05233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P R O G R E S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045" y="947439"/>
            <a:ext cx="1458333" cy="4518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两周内，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1045" y="1443019"/>
            <a:ext cx="8750016" cy="4955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我们从市场判断走到可运行的 Web Realtime 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1045" y="2026058"/>
            <a:ext cx="5104175" cy="2769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2424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Milestone 1 先用 Web 串起产品、实时语音、AI 编排与核心业务流程。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88" y="2660115"/>
            <a:ext cx="422917" cy="3935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50" b="1" i="0">
                <a:solidFill>
                  <a:srgbClr val="EF5335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417" y="3053668"/>
            <a:ext cx="1531252" cy="3206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产品调研与竞品矩阵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260" y="2660115"/>
            <a:ext cx="422917" cy="3935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50" b="1" i="0">
                <a:solidFill>
                  <a:srgbClr val="EF5335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61" y="3039095"/>
            <a:ext cx="1677089" cy="52473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产品计划、交互原型与</a:t>
            </a:r>
          </a:p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Prompt 测试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1685" y="2660115"/>
            <a:ext cx="422917" cy="3935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50" b="1" i="0">
                <a:solidFill>
                  <a:srgbClr val="EF5335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4175" y="3075531"/>
            <a:ext cx="1968751" cy="3206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7191B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WebRTC / Realtime POC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145" y="2660115"/>
            <a:ext cx="422917" cy="3935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150" b="1" i="0">
                <a:solidFill>
                  <a:srgbClr val="EF5335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3356" y="3039095"/>
            <a:ext cx="1640624" cy="52473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响应式 React Web</a:t>
            </a:r>
          </a:p>
          <a:p>
            <a:pPr algn="ctr">
              <a:lnSpc>
                <a:spcPct val="110000"/>
              </a:lnSpc>
            </a:pPr>
            <a:r>
              <a:rPr sz="1250" b="1" i="0">
                <a:solidFill>
                  <a:srgbClr val="17191B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与新系统架构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3348" y="5378537"/>
            <a:ext cx="1166672" cy="2915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22222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低延迟双向传输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18779" y="3520101"/>
            <a:ext cx="874997" cy="2769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22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性能日志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18779" y="4081278"/>
            <a:ext cx="911463" cy="2769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22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Demo 路径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18779" y="4649737"/>
            <a:ext cx="1057288" cy="2769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22222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可演示主流程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56269" y="5524297"/>
            <a:ext cx="2151041" cy="4227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F5335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从判断到可运行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269" y="5947003"/>
            <a:ext cx="2114588" cy="3133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222">
                    <a:alpha val="100000"/>
                  </a:srgbClr>
                </a:solidFill>
                <a:latin typeface="PingFang SC"/>
                <a:ea typeface="PingFang SC"/>
                <a:cs typeface="PingFang SC"/>
              </a:rPr>
              <a:t>验证这条路线值得继续开发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